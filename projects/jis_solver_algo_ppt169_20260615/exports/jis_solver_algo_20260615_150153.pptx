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这套求解算法的核心目标，是把一份排产 Excel 自动转成一份可执行的配送调度方案，回答每辆车什么时候到、装哪些物料、装多少。整个过程分成四个阶段，前一阶段的产出就是后一阶段的输入。第一阶段，数据加载器读取 Excel 的四张表——排产计划、供应商需求、包装规格和供应商车规，把中文列名即时映射成英文字段，并做完整性校验。第二阶段是关键的小时级拆分，每个任务令按它的加工小时数拆成一条条逐小时的物料消耗，计划量在这些小时之间整数均分，并根据到达提前期和滞后期算出每条消耗的到达时间窗。第三阶段交给 OR-Tools 的 CP-SAT 引擎，用四类决策变量和六类约束去求解最少用车方案。第四阶段提取启用车辆的结果，并用同一套业务约束做二次回验，确认方案合法后导出成调度 Excel。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接下来我们深入第三阶段，看 CP-SAT 到底是怎么建模的。模型有四类决策变量：车辆是否启用、每条消耗由哪辆车配送、每辆车的到达时间、以及每辆车装每种物料的板数。围绕它们有六类约束。第一类，分配唯一，每条小时消耗必须且只能由一辆候选车配送。第二类，到达时间窗，一旦某条消耗被分配给某辆车，这辆车的到达时间就必须落在它的窗口内，而且只能取非休息时段。第三类，装载板数，把每辆车每种物料的件数汇总后除以包规向上取整，模型用两条线性不等式来逼近这个取整。第四类，车辆容量，每辆车所有物料的板数之和不能超过车规。第五类，供应商物料守恒，保证每个供应商所有车辆上某种物料的总板数能覆盖需求。第六类是启用联动加对称性打破，让被分配的车自动算作启用，并按车次序号顺序激活，大幅压缩搜索空间。所有这些约束之上，目标函数只有一个，就是最小化启用的车辆总数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d2d9b538741d02a.png"/>
  <Relationship Id="rId3" Type="http://schemas.openxmlformats.org/officeDocument/2006/relationships/image" Target="../media/image_ee5b4bd9f5385427.png"/>
  <Relationship Id="rId4" Type="http://schemas.openxmlformats.org/officeDocument/2006/relationships/image" Target="../media/image_806ea51d84078342.png"/>
  <Relationship Id="rId5" Type="http://schemas.openxmlformats.org/officeDocument/2006/relationships/image" Target="../media/image_855dcabb7361908d.png"/>
  <Relationship Id="rId6" Type="http://schemas.openxmlformats.org/officeDocument/2006/relationships/image" Target="../media/image_bcde6fbe22aaeb30.png"/>
  <Relationship Id="rId7" Type="http://schemas.openxmlformats.org/officeDocument/2006/relationships/image" Target="../media/image_e1a5699f9af40de9.png"/>
  <Relationship Id="rId8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2A5F5"/>
              </a:gs>
            </a:gsLst>
            <a:lin ang="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36220"/>
            <a:ext cx="6193393" cy="673418"/>
            <a:chOff x="571500" y="236220"/>
            <a:chExt cx="6193393" cy="673418"/>
          </a:xfrm>
        </p:grpSpPr>
        <p:sp>
          <p:nvSpPr>
            <p:cNvPr id="4" name="Rectangle 4"/>
            <p:cNvSpPr/>
            <p:nvPr/>
          </p:nvSpPr>
          <p:spPr>
            <a:xfrm>
              <a:off x="571500" y="323850"/>
              <a:ext cx="66675" cy="3238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31520" y="236220"/>
              <a:ext cx="399265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JIS 配送优化求解算法全景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4855" y="635318"/>
              <a:ext cx="60200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四阶段流水线 — 把排产 Excel 转成「哪辆车、何时到、装什么」的调度方案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1104900"/>
            <a:ext cx="2476500" cy="3429000"/>
            <a:chOff x="571500" y="1104900"/>
            <a:chExt cx="2476500" cy="3429000"/>
          </a:xfrm>
        </p:grpSpPr>
        <p:sp>
          <p:nvSpPr>
            <p:cNvPr id="8" name="Rectangle 8"/>
            <p:cNvSpPr/>
            <p:nvPr/>
          </p:nvSpPr>
          <p:spPr>
            <a:xfrm>
              <a:off x="571500" y="1104900"/>
              <a:ext cx="2476500" cy="34290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4288">
              <a:solidFill>
                <a:srgbClr val="CFD8DC"/>
              </a:solidFill>
            </a:ln>
            <a:effectLst>
              <a:outerShdw blurRad="95250" dist="28575" dir="5400000" algn="ctr" rotWithShape="0">
                <a:srgbClr val="1565C0">
                  <a:alpha val="7500"/>
                </a:srgbClr>
              </a:outerShdw>
            </a:effectLst>
          </p:spPr>
        </p:sp>
        <p:sp>
          <p:nvSpPr>
            <p:cNvPr id="9" name="Freeform 9"/>
            <p:cNvSpPr/>
            <p:nvPr/>
          </p:nvSpPr>
          <p:spPr>
            <a:xfrm>
              <a:off x="571500" y="1104900"/>
              <a:ext cx="2476500" cy="400050"/>
            </a:xfrm>
            <a:custGeom>
              <a:avLst/>
              <a:gdLst/>
              <a:ahLst/>
              <a:cxnLst/>
              <a:rect l="l" t="t" r="r" b="b"/>
              <a:pathLst>
                <a:path w="2476500" h="40005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1200150"/>
              <a:ext cx="266700" cy="228600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7917" y="1240631"/>
              <a:ext cx="1624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1558" y="1224439"/>
              <a:ext cx="144271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数据加载 JISData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2771775" y="1219200"/>
              <a:ext cx="133350" cy="171450"/>
              <a:chOff x="2771775" y="1219200"/>
              <a:chExt cx="133350" cy="1714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2857500" y="121920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0" y="38100"/>
                    </a:lnTo>
                    <a:cubicBezTo>
                      <a:pt x="0" y="43361"/>
                      <a:pt x="4264" y="47625"/>
                      <a:pt x="9525" y="47625"/>
                    </a:cubicBezTo>
                    <a:lnTo>
                      <a:pt x="47625" y="476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771775" y="121920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14300" y="171450"/>
                    </a:move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85725" y="0"/>
                    </a:lnTo>
                    <a:lnTo>
                      <a:pt x="133350" y="47625"/>
                    </a:lnTo>
                    <a:lnTo>
                      <a:pt x="133350" y="152400"/>
                    </a:lnTo>
                    <a:cubicBezTo>
                      <a:pt x="133350" y="162921"/>
                      <a:pt x="124821" y="171450"/>
                      <a:pt x="114300" y="1714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800350" y="1295400"/>
                <a:ext cx="762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66675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66675"/>
                    </a:lnTo>
                    <a:lnTo>
                      <a:pt x="0" y="666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800350" y="13335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828925" y="1295400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9" name="Rectangle 19"/>
            <p:cNvSpPr/>
            <p:nvPr/>
          </p:nvSpPr>
          <p:spPr>
            <a:xfrm>
              <a:off x="571500" y="1504950"/>
              <a:ext cx="2476500" cy="285750"/>
            </a:xfrm>
            <a:prstGeom prst="rect">
              <a:avLst/>
            </a:prstGeom>
            <a:solidFill>
              <a:srgbClr val="1565C0">
                <a:alpha val="8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49937" y="1590199"/>
              <a:ext cx="15196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Excel 四表 → 规范化输入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09612" y="2024062"/>
              <a:ext cx="66675" cy="66675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2965" y="198215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63238"/>
                  </a:solidFill>
                  <a:latin typeface="Arial"/>
                  <a:ea typeface="Microsoft YaHei"/>
                  <a:cs typeface="Arial"/>
                </a:rPr>
                <a:t>读取四张工作表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4870" y="2188845"/>
              <a:ext cx="1397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排产 / 需求 / 包规 / 车规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09612" y="2557462"/>
              <a:ext cx="66675" cy="66675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2965" y="251555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63238"/>
                  </a:solidFill>
                  <a:latin typeface="Arial"/>
                  <a:ea typeface="Microsoft YaHei"/>
                  <a:cs typeface="Arial"/>
                </a:rPr>
                <a:t>中文列即时映射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4870" y="2722245"/>
              <a:ext cx="11690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COL_MAP 转英文字段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09612" y="3090862"/>
              <a:ext cx="66675" cy="66675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2965" y="304895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63238"/>
                  </a:solidFill>
                  <a:latin typeface="Arial"/>
                  <a:ea typeface="Microsoft YaHei"/>
                  <a:cs typeface="Arial"/>
                </a:rPr>
                <a:t>完整性校验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4870" y="3255645"/>
              <a:ext cx="13790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物料 / 供应商 / 包规齐备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23900" y="3562350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14288">
              <a:solidFill>
                <a:srgbClr val="CFD8DC"/>
              </a:solidFill>
              <a:prstDash val="dash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23900" y="3714750"/>
              <a:ext cx="2171700" cy="666750"/>
            </a:xfrm>
            <a:prstGeom prst="roundRect">
              <a:avLst>
                <a:gd name="adj" fmla="val 8571"/>
              </a:avLst>
            </a:prstGeom>
            <a:solidFill>
              <a:srgbClr val="F5F7FA"/>
            </a:solidFill>
            <a:ln w="9525">
              <a:solidFill>
                <a:srgbClr val="CFD8D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568244" y="383524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阶段产出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44144" y="4069556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规范化输入数据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333750" y="1104900"/>
            <a:ext cx="2476500" cy="3429000"/>
            <a:chOff x="3333750" y="1104900"/>
            <a:chExt cx="2476500" cy="3429000"/>
          </a:xfrm>
        </p:grpSpPr>
        <p:sp>
          <p:nvSpPr>
            <p:cNvPr id="35" name="Rectangle 35"/>
            <p:cNvSpPr/>
            <p:nvPr/>
          </p:nvSpPr>
          <p:spPr>
            <a:xfrm>
              <a:off x="3333750" y="1104900"/>
              <a:ext cx="2476500" cy="34290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4288">
              <a:solidFill>
                <a:srgbClr val="CFD8DC"/>
              </a:solidFill>
            </a:ln>
            <a:effectLst>
              <a:outerShdw blurRad="95250" dist="28575" dir="5400000" algn="ctr" rotWithShape="0">
                <a:srgbClr val="1565C0">
                  <a:alpha val="7500"/>
                </a:srgbClr>
              </a:outerShdw>
            </a:effectLst>
          </p:spPr>
        </p:sp>
        <p:sp>
          <p:nvSpPr>
            <p:cNvPr id="36" name="Freeform 36"/>
            <p:cNvSpPr/>
            <p:nvPr/>
          </p:nvSpPr>
          <p:spPr>
            <a:xfrm>
              <a:off x="3333750" y="1104900"/>
              <a:ext cx="2476500" cy="400050"/>
            </a:xfrm>
            <a:custGeom>
              <a:avLst/>
              <a:gdLst/>
              <a:ahLst/>
              <a:cxnLst/>
              <a:rect l="l" t="t" r="r" b="b"/>
              <a:pathLst>
                <a:path w="2476500" h="40005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1976D2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448050" y="1200150"/>
              <a:ext cx="266700" cy="228600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480477" y="12406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976D2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93808" y="1224439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小时级拆分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5514975" y="1219200"/>
              <a:ext cx="171450" cy="171450"/>
              <a:chOff x="5514975" y="1219200"/>
              <a:chExt cx="171450" cy="1714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5514975" y="121920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52400"/>
                    </a:lnTo>
                    <a:cubicBezTo>
                      <a:pt x="171450" y="162921"/>
                      <a:pt x="162921" y="171450"/>
                      <a:pt x="152400" y="171450"/>
                    </a:cubicBez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514975" y="1285875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581650" y="1219200"/>
                <a:ext cx="95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">
                    <a:moveTo>
                      <a:pt x="0" y="0"/>
                    </a:moveTo>
                    <a:lnTo>
                      <a:pt x="0" y="1714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4" name="Rectangle 44"/>
            <p:cNvSpPr/>
            <p:nvPr/>
          </p:nvSpPr>
          <p:spPr>
            <a:xfrm>
              <a:off x="3333750" y="1504950"/>
              <a:ext cx="2476500" cy="285750"/>
            </a:xfrm>
            <a:prstGeom prst="rect">
              <a:avLst/>
            </a:prstGeom>
            <a:solidFill>
              <a:srgbClr val="1976D2">
                <a:alpha val="8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866793" y="1590199"/>
              <a:ext cx="14104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976D2"/>
                  </a:solidFill>
                  <a:latin typeface="Arial"/>
                  <a:ea typeface="Microsoft YaHei"/>
                  <a:cs typeface="Arial"/>
                </a:rPr>
                <a:t>排产驱动 → 逐小时消耗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3471862" y="2024062"/>
              <a:ext cx="66675" cy="66675"/>
            </a:xfrm>
            <a:prstGeom prst="ellipse">
              <a:avLst/>
            </a:prstGeom>
            <a:solidFill>
              <a:srgbClr val="1976D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625215" y="198215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63238"/>
                  </a:solidFill>
                  <a:latin typeface="Arial"/>
                  <a:ea typeface="Microsoft YaHei"/>
                  <a:cs typeface="Arial"/>
                </a:rPr>
                <a:t>按加工小时拆分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628072" y="2196941"/>
              <a:ext cx="111009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07D8B"/>
                  </a:solidFill>
                  <a:latin typeface="Consolas"/>
                  <a:ea typeface="Microsoft YaHei"/>
                  <a:cs typeface="Consolas"/>
                </a:rPr>
                <a:t>ceil(完工−开工−休息)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3471862" y="2557462"/>
              <a:ext cx="66675" cy="66675"/>
            </a:xfrm>
            <a:prstGeom prst="ellipse">
              <a:avLst/>
            </a:prstGeom>
            <a:solidFill>
              <a:srgbClr val="1976D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625215" y="251555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63238"/>
                  </a:solidFill>
                  <a:latin typeface="Arial"/>
                  <a:ea typeface="Microsoft YaHei"/>
                  <a:cs typeface="Arial"/>
                </a:rPr>
                <a:t>计划量整数均分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627120" y="2722245"/>
              <a:ext cx="12410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每小时一条消耗 + 余数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3471862" y="3090862"/>
              <a:ext cx="66675" cy="66675"/>
            </a:xfrm>
            <a:prstGeom prst="ellipse">
              <a:avLst/>
            </a:prstGeom>
            <a:solidFill>
              <a:srgbClr val="1976D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625215" y="30489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63238"/>
                  </a:solidFill>
                  <a:latin typeface="Arial"/>
                  <a:ea typeface="Microsoft YaHei"/>
                  <a:cs typeface="Arial"/>
                </a:rPr>
                <a:t>算到达时间窗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628072" y="3263741"/>
              <a:ext cx="84605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07D8B"/>
                  </a:solidFill>
                  <a:latin typeface="Consolas"/>
                  <a:ea typeface="Microsoft YaHei"/>
                  <a:cs typeface="Consolas"/>
                </a:rPr>
                <a:t>[h−lead, h−lag]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3486150" y="3562350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14288">
              <a:solidFill>
                <a:srgbClr val="CFD8DC"/>
              </a:solidFill>
              <a:prstDash val="dash"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486150" y="3714750"/>
              <a:ext cx="2171700" cy="666750"/>
            </a:xfrm>
            <a:prstGeom prst="roundRect">
              <a:avLst>
                <a:gd name="adj" fmla="val 8571"/>
              </a:avLst>
            </a:prstGeom>
            <a:solidFill>
              <a:srgbClr val="F5F7FA"/>
            </a:solidFill>
            <a:ln w="9525">
              <a:solidFill>
                <a:srgbClr val="CFD8DC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330494" y="383524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阶段产出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085153" y="4021931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976D2"/>
                  </a:solidFill>
                  <a:latin typeface="Arial"/>
                  <a:ea typeface="Microsoft YaHei"/>
                  <a:cs typeface="Arial"/>
                </a:rPr>
                <a:t>小时消耗集合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149519" y="4208145"/>
              <a:ext cx="844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+ 候选车辆映射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6096000" y="1104900"/>
            <a:ext cx="2476500" cy="3429000"/>
            <a:chOff x="6096000" y="1104900"/>
            <a:chExt cx="2476500" cy="3429000"/>
          </a:xfrm>
        </p:grpSpPr>
        <p:sp>
          <p:nvSpPr>
            <p:cNvPr id="61" name="Rectangle 61"/>
            <p:cNvSpPr/>
            <p:nvPr/>
          </p:nvSpPr>
          <p:spPr>
            <a:xfrm>
              <a:off x="6096000" y="1104900"/>
              <a:ext cx="2476500" cy="34290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9050">
              <a:solidFill>
                <a:srgbClr val="42A5F5"/>
              </a:solidFill>
            </a:ln>
            <a:effectLst>
              <a:outerShdw blurRad="95250" dist="28575" dir="5400000" algn="ctr" rotWithShape="0">
                <a:srgbClr val="1565C0">
                  <a:alpha val="7500"/>
                </a:srgbClr>
              </a:outerShdw>
            </a:effectLst>
          </p:spPr>
        </p:sp>
        <p:sp>
          <p:nvSpPr>
            <p:cNvPr id="62" name="Freeform 62"/>
            <p:cNvSpPr/>
            <p:nvPr/>
          </p:nvSpPr>
          <p:spPr>
            <a:xfrm>
              <a:off x="6096000" y="1104900"/>
              <a:ext cx="2476500" cy="400050"/>
            </a:xfrm>
            <a:custGeom>
              <a:avLst/>
              <a:gdLst/>
              <a:ahLst/>
              <a:cxnLst/>
              <a:rect l="l" t="t" r="r" b="b"/>
              <a:pathLst>
                <a:path w="2476500" h="40005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0D47A1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210300" y="1200150"/>
              <a:ext cx="266700" cy="228600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242727" y="12406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D47A1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56058" y="1224439"/>
              <a:ext cx="13891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CP-SAT 建模求解</a:t>
              </a:r>
            </a:p>
          </p:txBody>
        </p:sp>
        <p:grpSp>
          <p:nvGrpSpPr>
            <p:cNvPr id="76" name="Group 76"/>
            <p:cNvGrpSpPr/>
            <p:nvPr/>
          </p:nvGrpSpPr>
          <p:grpSpPr>
            <a:xfrm>
              <a:off x="8277225" y="1219200"/>
              <a:ext cx="171450" cy="171450"/>
              <a:chOff x="8277225" y="1219200"/>
              <a:chExt cx="171450" cy="17145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8296275" y="123825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123825" y="0"/>
                    </a:lnTo>
                    <a:cubicBezTo>
                      <a:pt x="129086" y="0"/>
                      <a:pt x="133350" y="4264"/>
                      <a:pt x="133350" y="9525"/>
                    </a:cubicBezTo>
                    <a:lnTo>
                      <a:pt x="133350" y="123825"/>
                    </a:lnTo>
                    <a:cubicBezTo>
                      <a:pt x="133350" y="129086"/>
                      <a:pt x="129086" y="133350"/>
                      <a:pt x="12382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334375" y="12763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57150"/>
                    </a:lnTo>
                    <a:lnTo>
                      <a:pt x="0" y="571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277225" y="1285875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77225" y="1323975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343900" y="121920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382000" y="121920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429625" y="1285875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429625" y="1323975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382000" y="137160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343900" y="137160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77" name="Rectangle 77"/>
            <p:cNvSpPr/>
            <p:nvPr/>
          </p:nvSpPr>
          <p:spPr>
            <a:xfrm>
              <a:off x="6096000" y="1504950"/>
              <a:ext cx="2476500" cy="285750"/>
            </a:xfrm>
            <a:prstGeom prst="rect">
              <a:avLst/>
            </a:prstGeom>
            <a:solidFill>
              <a:srgbClr val="0D47A1">
                <a:alpha val="8000"/>
              </a:srgbClr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594914" y="1590199"/>
              <a:ext cx="14786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OR-Tools 约束规划引擎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6234112" y="2024062"/>
              <a:ext cx="66675" cy="66675"/>
            </a:xfrm>
            <a:prstGeom prst="ellipse">
              <a:avLst/>
            </a:prstGeom>
            <a:solidFill>
              <a:srgbClr val="0D47A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387465" y="1982152"/>
              <a:ext cx="8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63238"/>
                  </a:solidFill>
                  <a:latin typeface="Arial"/>
                  <a:ea typeface="Microsoft YaHei"/>
                  <a:cs typeface="Arial"/>
                </a:rPr>
                <a:t>4 类决策变量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390322" y="2196941"/>
              <a:ext cx="11926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07D8B"/>
                  </a:solidFill>
                  <a:latin typeface="Consolas"/>
                  <a:ea typeface="Microsoft YaHei"/>
                  <a:cs typeface="Consolas"/>
                </a:rPr>
                <a:t>x_v · a_cv · t_v · l_vi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6234112" y="2557462"/>
              <a:ext cx="66675" cy="66675"/>
            </a:xfrm>
            <a:prstGeom prst="ellipse">
              <a:avLst/>
            </a:prstGeom>
            <a:solidFill>
              <a:srgbClr val="0D47A1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387465" y="251555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63238"/>
                  </a:solidFill>
                  <a:latin typeface="Arial"/>
                  <a:ea typeface="Microsoft YaHei"/>
                  <a:cs typeface="Arial"/>
                </a:rPr>
                <a:t>6 类约束 + 目标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389370" y="272224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最小化启用车辆数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6234112" y="3090862"/>
              <a:ext cx="66675" cy="66675"/>
            </a:xfrm>
            <a:prstGeom prst="ellipse">
              <a:avLst/>
            </a:prstGeom>
            <a:solidFill>
              <a:srgbClr val="0D47A1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387465" y="304895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63238"/>
                  </a:solidFill>
                  <a:latin typeface="Arial"/>
                  <a:ea typeface="Microsoft YaHei"/>
                  <a:cs typeface="Arial"/>
                </a:rPr>
                <a:t>贪心装箱压上界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389370" y="3255645"/>
              <a:ext cx="11329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32 线程 · 120 秒上限</a:t>
              </a:r>
            </a:p>
          </p:txBody>
        </p:sp>
        <p:sp>
          <p:nvSpPr>
            <p:cNvPr id="88" name="Line 88"/>
            <p:cNvSpPr/>
            <p:nvPr/>
          </p:nvSpPr>
          <p:spPr>
            <a:xfrm>
              <a:off x="6248400" y="3562350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14288">
              <a:solidFill>
                <a:srgbClr val="CFD8DC"/>
              </a:solidFill>
              <a:prstDash val="dash"/>
            </a:ln>
          </p:spPr>
        </p:sp>
        <p:sp>
          <p:nvSpPr>
            <p:cNvPr id="89" name="Rectangle 89"/>
            <p:cNvSpPr/>
            <p:nvPr/>
          </p:nvSpPr>
          <p:spPr>
            <a:xfrm>
              <a:off x="6248400" y="3714750"/>
              <a:ext cx="2171700" cy="666750"/>
            </a:xfrm>
            <a:prstGeom prst="roundRect">
              <a:avLst>
                <a:gd name="adj" fmla="val 8571"/>
              </a:avLst>
            </a:prstGeom>
            <a:solidFill>
              <a:srgbClr val="0D47A1">
                <a:alpha val="6000"/>
              </a:srgbClr>
            </a:solidFill>
            <a:ln w="9525">
              <a:solidFill>
                <a:srgbClr val="42A5F5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092744" y="383524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阶段产出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835589" y="4069556"/>
              <a:ext cx="9973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最优 / 可行解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8858250" y="1104900"/>
            <a:ext cx="2476500" cy="3429000"/>
            <a:chOff x="8858250" y="1104900"/>
            <a:chExt cx="2476500" cy="3429000"/>
          </a:xfrm>
        </p:grpSpPr>
        <p:sp>
          <p:nvSpPr>
            <p:cNvPr id="93" name="Rectangle 93"/>
            <p:cNvSpPr/>
            <p:nvPr/>
          </p:nvSpPr>
          <p:spPr>
            <a:xfrm>
              <a:off x="8858250" y="1104900"/>
              <a:ext cx="2476500" cy="34290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4288">
              <a:solidFill>
                <a:srgbClr val="CFD8DC"/>
              </a:solidFill>
            </a:ln>
            <a:effectLst>
              <a:outerShdw blurRad="95250" dist="28575" dir="5400000" algn="ctr" rotWithShape="0">
                <a:srgbClr val="1565C0">
                  <a:alpha val="7500"/>
                </a:srgbClr>
              </a:outerShdw>
            </a:effectLst>
          </p:spPr>
        </p:sp>
        <p:sp>
          <p:nvSpPr>
            <p:cNvPr id="94" name="Freeform 94"/>
            <p:cNvSpPr/>
            <p:nvPr/>
          </p:nvSpPr>
          <p:spPr>
            <a:xfrm>
              <a:off x="8858250" y="1104900"/>
              <a:ext cx="2476500" cy="400050"/>
            </a:xfrm>
            <a:custGeom>
              <a:avLst/>
              <a:gdLst/>
              <a:ahLst/>
              <a:cxnLst/>
              <a:rect l="l" t="t" r="r" b="b"/>
              <a:pathLst>
                <a:path w="2476500" h="40005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8972550" y="1200150"/>
              <a:ext cx="266700" cy="228600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9004977" y="12406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318308" y="1224439"/>
              <a:ext cx="1282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结果提取与回验</a:t>
              </a:r>
            </a:p>
          </p:txBody>
        </p:sp>
        <p:grpSp>
          <p:nvGrpSpPr>
            <p:cNvPr id="100" name="Group 100"/>
            <p:cNvGrpSpPr/>
            <p:nvPr/>
          </p:nvGrpSpPr>
          <p:grpSpPr>
            <a:xfrm>
              <a:off x="11058525" y="1219200"/>
              <a:ext cx="152400" cy="180975"/>
              <a:chOff x="11058525" y="1219200"/>
              <a:chExt cx="152400" cy="180975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11144250" y="121920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0" y="38100"/>
                    </a:lnTo>
                    <a:cubicBezTo>
                      <a:pt x="0" y="43361"/>
                      <a:pt x="4264" y="47625"/>
                      <a:pt x="9525" y="47625"/>
                    </a:cubicBezTo>
                    <a:lnTo>
                      <a:pt x="47625" y="476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11058525" y="1219200"/>
                <a:ext cx="152400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80975">
                    <a:moveTo>
                      <a:pt x="61912" y="171450"/>
                    </a:move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85725" y="0"/>
                    </a:lnTo>
                    <a:lnTo>
                      <a:pt x="133350" y="47625"/>
                    </a:lnTo>
                    <a:lnTo>
                      <a:pt x="133350" y="95250"/>
                    </a:lnTo>
                    <a:moveTo>
                      <a:pt x="85725" y="152400"/>
                    </a:moveTo>
                    <a:lnTo>
                      <a:pt x="152400" y="152400"/>
                    </a:lnTo>
                    <a:moveTo>
                      <a:pt x="123825" y="123825"/>
                    </a:moveTo>
                    <a:lnTo>
                      <a:pt x="152400" y="152400"/>
                    </a:lnTo>
                    <a:lnTo>
                      <a:pt x="123825" y="1809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01" name="Rectangle 101"/>
            <p:cNvSpPr/>
            <p:nvPr/>
          </p:nvSpPr>
          <p:spPr>
            <a:xfrm>
              <a:off x="8858250" y="1504950"/>
              <a:ext cx="2476500" cy="285750"/>
            </a:xfrm>
            <a:prstGeom prst="rect">
              <a:avLst/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9428836" y="1590199"/>
              <a:ext cx="13353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JISResult → 调度方案</a:t>
              </a:r>
            </a:p>
          </p:txBody>
        </p:sp>
        <p:sp>
          <p:nvSpPr>
            <p:cNvPr id="103" name="Ellipse 103"/>
            <p:cNvSpPr/>
            <p:nvPr/>
          </p:nvSpPr>
          <p:spPr>
            <a:xfrm>
              <a:off x="8996362" y="2024062"/>
              <a:ext cx="66675" cy="66675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9149715" y="19821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63238"/>
                  </a:solidFill>
                  <a:latin typeface="Arial"/>
                  <a:ea typeface="Microsoft YaHei"/>
                  <a:cs typeface="Arial"/>
                </a:rPr>
                <a:t>提取启用车辆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9151620" y="2188845"/>
              <a:ext cx="1259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到达时间 / 物料 / 板数</a:t>
              </a:r>
            </a:p>
          </p:txBody>
        </p:sp>
        <p:sp>
          <p:nvSpPr>
            <p:cNvPr id="106" name="Ellipse 106"/>
            <p:cNvSpPr/>
            <p:nvPr/>
          </p:nvSpPr>
          <p:spPr>
            <a:xfrm>
              <a:off x="8996362" y="2557462"/>
              <a:ext cx="66675" cy="66675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9149715" y="2515552"/>
              <a:ext cx="12248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63238"/>
                  </a:solidFill>
                  <a:latin typeface="Arial"/>
                  <a:ea typeface="Microsoft YaHei"/>
                  <a:cs typeface="Arial"/>
                </a:rPr>
                <a:t>check() 业务回验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151620" y="2722245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同一套约束二次校验</a:t>
              </a:r>
            </a:p>
          </p:txBody>
        </p:sp>
        <p:sp>
          <p:nvSpPr>
            <p:cNvPr id="109" name="Ellipse 109"/>
            <p:cNvSpPr/>
            <p:nvPr/>
          </p:nvSpPr>
          <p:spPr>
            <a:xfrm>
              <a:off x="8996362" y="3090862"/>
              <a:ext cx="66675" cy="66675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9149715" y="30489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63238"/>
                  </a:solidFill>
                  <a:latin typeface="Arial"/>
                  <a:ea typeface="Microsoft YaHei"/>
                  <a:cs typeface="Arial"/>
                </a:rPr>
                <a:t>返回问题列表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151620" y="3255645"/>
              <a:ext cx="7609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空列表 = 通过</a:t>
              </a:r>
            </a:p>
          </p:txBody>
        </p:sp>
        <p:sp>
          <p:nvSpPr>
            <p:cNvPr id="112" name="Line 112"/>
            <p:cNvSpPr/>
            <p:nvPr/>
          </p:nvSpPr>
          <p:spPr>
            <a:xfrm>
              <a:off x="9010650" y="3562350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14288">
              <a:solidFill>
                <a:srgbClr val="CFD8DC"/>
              </a:solidFill>
              <a:prstDash val="dash"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9010650" y="3714750"/>
              <a:ext cx="2171700" cy="666750"/>
            </a:xfrm>
            <a:prstGeom prst="roundRect">
              <a:avLst>
                <a:gd name="adj" fmla="val 8571"/>
              </a:avLst>
            </a:prstGeom>
            <a:solidFill>
              <a:srgbClr val="2E7D32">
                <a:alpha val="6000"/>
              </a:srgbClr>
            </a:solidFill>
            <a:ln w="9525">
              <a:solidFill>
                <a:srgbClr val="2E7D32">
                  <a:alpha val="40000"/>
                </a:srgbClr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9854994" y="383524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阶段产出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9546646" y="4069556"/>
              <a:ext cx="10997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调度方案 Excel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3067050" y="2743200"/>
            <a:ext cx="5791200" cy="228600"/>
            <a:chOff x="3067050" y="2743200"/>
            <a:chExt cx="5791200" cy="228600"/>
          </a:xfrm>
        </p:grpSpPr>
        <p:sp>
          <p:nvSpPr>
            <p:cNvPr id="117" name="Freeform 117"/>
            <p:cNvSpPr/>
            <p:nvPr/>
          </p:nvSpPr>
          <p:spPr>
            <a:xfrm>
              <a:off x="3067050" y="2743200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76200"/>
                  </a:moveTo>
                  <a:lnTo>
                    <a:pt x="133350" y="76200"/>
                  </a:lnTo>
                  <a:lnTo>
                    <a:pt x="133350" y="0"/>
                  </a:lnTo>
                  <a:lnTo>
                    <a:pt x="266700" y="114300"/>
                  </a:lnTo>
                  <a:lnTo>
                    <a:pt x="133350" y="228600"/>
                  </a:lnTo>
                  <a:lnTo>
                    <a:pt x="13335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</p:sp>
        <p:sp>
          <p:nvSpPr>
            <p:cNvPr id="118" name="Freeform 118"/>
            <p:cNvSpPr/>
            <p:nvPr/>
          </p:nvSpPr>
          <p:spPr>
            <a:xfrm>
              <a:off x="5829300" y="2743200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76200"/>
                  </a:moveTo>
                  <a:lnTo>
                    <a:pt x="133350" y="76200"/>
                  </a:lnTo>
                  <a:lnTo>
                    <a:pt x="133350" y="0"/>
                  </a:lnTo>
                  <a:lnTo>
                    <a:pt x="266700" y="114300"/>
                  </a:lnTo>
                  <a:lnTo>
                    <a:pt x="133350" y="228600"/>
                  </a:lnTo>
                  <a:lnTo>
                    <a:pt x="13335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</p:sp>
        <p:sp>
          <p:nvSpPr>
            <p:cNvPr id="119" name="Freeform 119"/>
            <p:cNvSpPr/>
            <p:nvPr/>
          </p:nvSpPr>
          <p:spPr>
            <a:xfrm>
              <a:off x="8591550" y="2743200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76200"/>
                  </a:moveTo>
                  <a:lnTo>
                    <a:pt x="133350" y="76200"/>
                  </a:lnTo>
                  <a:lnTo>
                    <a:pt x="133350" y="0"/>
                  </a:lnTo>
                  <a:lnTo>
                    <a:pt x="266700" y="114300"/>
                  </a:lnTo>
                  <a:lnTo>
                    <a:pt x="133350" y="228600"/>
                  </a:lnTo>
                  <a:lnTo>
                    <a:pt x="13335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</p:sp>
      </p:grpSp>
      <p:grpSp>
        <p:nvGrpSpPr>
          <p:cNvPr id="139" name="Group 139"/>
          <p:cNvGrpSpPr/>
          <p:nvPr/>
        </p:nvGrpSpPr>
        <p:grpSpPr>
          <a:xfrm>
            <a:off x="571500" y="4762500"/>
            <a:ext cx="10763250" cy="704850"/>
            <a:chOff x="571500" y="4762500"/>
            <a:chExt cx="10763250" cy="704850"/>
          </a:xfrm>
        </p:grpSpPr>
        <p:sp>
          <p:nvSpPr>
            <p:cNvPr id="121" name="Rectangle 121"/>
            <p:cNvSpPr/>
            <p:nvPr/>
          </p:nvSpPr>
          <p:spPr>
            <a:xfrm>
              <a:off x="571500" y="4762500"/>
              <a:ext cx="10763250" cy="704850"/>
            </a:xfrm>
            <a:prstGeom prst="roundRect">
              <a:avLst>
                <a:gd name="adj" fmla="val 13514"/>
              </a:avLst>
            </a:prstGeom>
            <a:solidFill>
              <a:srgbClr val="F5F7FA"/>
            </a:solidFill>
            <a:ln w="9525">
              <a:solidFill>
                <a:srgbClr val="CFD8DC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787718" y="492394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数据形态流转</a:t>
              </a:r>
            </a:p>
          </p:txBody>
        </p:sp>
        <p:sp>
          <p:nvSpPr>
            <p:cNvPr id="123" name="Rectangle 123"/>
            <p:cNvSpPr/>
            <p:nvPr/>
          </p:nvSpPr>
          <p:spPr>
            <a:xfrm>
              <a:off x="800100" y="5124450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1317327" y="5181124"/>
              <a:ext cx="6800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Excel 四表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2703004" y="5166360"/>
              <a:ext cx="118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3009900" y="5124450"/>
              <a:ext cx="1905000" cy="247650"/>
            </a:xfrm>
            <a:prstGeom prst="roundRect">
              <a:avLst>
                <a:gd name="adj" fmla="val 23077"/>
              </a:avLst>
            </a:prstGeom>
            <a:solidFill>
              <a:srgbClr val="1976D2">
                <a:alpha val="10000"/>
              </a:srgbClr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3332278" y="5181124"/>
              <a:ext cx="12602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976D2"/>
                  </a:solidFill>
                  <a:latin typeface="Arial"/>
                  <a:ea typeface="Microsoft YaHei"/>
                  <a:cs typeface="Arial"/>
                </a:rPr>
                <a:t>HourlyConsumption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5103304" y="5166360"/>
              <a:ext cx="118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5410200" y="5124450"/>
              <a:ext cx="2095500" cy="247650"/>
            </a:xfrm>
            <a:prstGeom prst="roundRect">
              <a:avLst>
                <a:gd name="adj" fmla="val 23077"/>
              </a:avLst>
            </a:prstGeom>
            <a:solidFill>
              <a:srgbClr val="0D47A1">
                <a:alpha val="10000"/>
              </a:srgbClr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5722027" y="5181124"/>
              <a:ext cx="1471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CP-SAT 解（车辆分配）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7694104" y="5166360"/>
              <a:ext cx="118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8001000" y="5124450"/>
              <a:ext cx="1905000" cy="247650"/>
            </a:xfrm>
            <a:prstGeom prst="roundRect">
              <a:avLst>
                <a:gd name="adj" fmla="val 23077"/>
              </a:avLst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8476959" y="5181124"/>
              <a:ext cx="953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调度方案 Excel</a:t>
              </a:r>
            </a:p>
          </p:txBody>
        </p:sp>
        <p:grpSp>
          <p:nvGrpSpPr>
            <p:cNvPr id="138" name="Group 138"/>
            <p:cNvGrpSpPr/>
            <p:nvPr/>
          </p:nvGrpSpPr>
          <p:grpSpPr>
            <a:xfrm>
              <a:off x="10379075" y="5116512"/>
              <a:ext cx="331787" cy="244476"/>
              <a:chOff x="10379075" y="5116512"/>
              <a:chExt cx="331787" cy="244476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10431462" y="5291138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35" name="Freeform 135"/>
              <p:cNvSpPr/>
              <p:nvPr/>
            </p:nvSpPr>
            <p:spPr>
              <a:xfrm>
                <a:off x="10606088" y="5291138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36" name="Freeform 136"/>
              <p:cNvSpPr/>
              <p:nvPr/>
            </p:nvSpPr>
            <p:spPr>
              <a:xfrm>
                <a:off x="10379075" y="5116512"/>
                <a:ext cx="33178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331787" h="209550">
                    <a:moveTo>
                      <a:pt x="52388" y="209550"/>
                    </a:moveTo>
                    <a:lnTo>
                      <a:pt x="17462" y="209550"/>
                    </a:lnTo>
                    <a:lnTo>
                      <a:pt x="17462" y="139700"/>
                    </a:lnTo>
                    <a:moveTo>
                      <a:pt x="0" y="0"/>
                    </a:moveTo>
                    <a:lnTo>
                      <a:pt x="192087" y="0"/>
                    </a:lnTo>
                    <a:lnTo>
                      <a:pt x="192087" y="209550"/>
                    </a:lnTo>
                    <a:moveTo>
                      <a:pt x="122237" y="209550"/>
                    </a:moveTo>
                    <a:lnTo>
                      <a:pt x="227012" y="209550"/>
                    </a:lnTo>
                    <a:moveTo>
                      <a:pt x="296862" y="209550"/>
                    </a:moveTo>
                    <a:lnTo>
                      <a:pt x="331787" y="209550"/>
                    </a:lnTo>
                    <a:lnTo>
                      <a:pt x="331787" y="104775"/>
                    </a:lnTo>
                    <a:lnTo>
                      <a:pt x="192087" y="104775"/>
                    </a:lnTo>
                    <a:moveTo>
                      <a:pt x="192087" y="17463"/>
                    </a:moveTo>
                    <a:lnTo>
                      <a:pt x="279400" y="17463"/>
                    </a:lnTo>
                    <a:lnTo>
                      <a:pt x="331787" y="104775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37" name="Freeform 137"/>
              <p:cNvSpPr/>
              <p:nvPr/>
            </p:nvSpPr>
            <p:spPr>
              <a:xfrm>
                <a:off x="10396538" y="5186362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</p:grpSp>
      <p:grpSp>
        <p:nvGrpSpPr>
          <p:cNvPr id="142" name="Group 142"/>
          <p:cNvGrpSpPr/>
          <p:nvPr/>
        </p:nvGrpSpPr>
        <p:grpSpPr>
          <a:xfrm>
            <a:off x="560070" y="6551295"/>
            <a:ext cx="10786110" cy="182880"/>
            <a:chOff x="560070" y="6551295"/>
            <a:chExt cx="10786110" cy="182880"/>
          </a:xfrm>
        </p:grpSpPr>
        <p:sp>
          <p:nvSpPr>
            <p:cNvPr id="140" name="TextBox 140"/>
            <p:cNvSpPr txBox="1"/>
            <p:nvPr/>
          </p:nvSpPr>
          <p:spPr>
            <a:xfrm>
              <a:off x="560070" y="6551295"/>
              <a:ext cx="27111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manufacture-jis · CP-SAT JIS 物料配送优化求解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11155299" y="6551295"/>
              <a:ext cx="1908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P01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60" grpId="0"/>
      <p:bldP spid="92" grpId="0"/>
      <p:bldP spid="116" grpId="0"/>
      <p:bldP spid="120" grpId="0"/>
      <p:bldP spid="13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2A5F5"/>
              </a:gs>
            </a:gsLst>
            <a:lin ang="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36220"/>
            <a:ext cx="4456176" cy="673418"/>
            <a:chOff x="571500" y="236220"/>
            <a:chExt cx="4456176" cy="673418"/>
          </a:xfrm>
        </p:grpSpPr>
        <p:sp>
          <p:nvSpPr>
            <p:cNvPr id="4" name="Rectangle 4"/>
            <p:cNvSpPr/>
            <p:nvPr/>
          </p:nvSpPr>
          <p:spPr>
            <a:xfrm>
              <a:off x="571500" y="323850"/>
              <a:ext cx="66675" cy="3238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31520" y="236220"/>
              <a:ext cx="261487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CP-SAT 建模详解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4855" y="635318"/>
              <a:ext cx="42828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决策变量、六类约束与目标函数 — OR-Tools CpModel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990600"/>
            <a:ext cx="2857500" cy="5067300"/>
            <a:chOff x="571500" y="990600"/>
            <a:chExt cx="2857500" cy="5067300"/>
          </a:xfrm>
        </p:grpSpPr>
        <p:sp>
          <p:nvSpPr>
            <p:cNvPr id="8" name="Rectangle 8"/>
            <p:cNvSpPr/>
            <p:nvPr/>
          </p:nvSpPr>
          <p:spPr>
            <a:xfrm>
              <a:off x="571500" y="990600"/>
              <a:ext cx="2857500" cy="5067300"/>
            </a:xfrm>
            <a:prstGeom prst="roundRect">
              <a:avLst>
                <a:gd name="adj" fmla="val 3333"/>
              </a:avLst>
            </a:prstGeom>
            <a:gradFill>
              <a:gsLst>
                <a:gs pos="0">
                  <a:srgbClr val="1565C0"/>
                </a:gs>
                <a:gs pos="100000">
                  <a:srgbClr val="0D47A1"/>
                </a:gs>
              </a:gsLst>
              <a:lin ang="5400000" scaled="1"/>
            </a:gra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87797" y="1222375"/>
              <a:ext cx="196056" cy="165100"/>
              <a:chOff x="787797" y="1222375"/>
              <a:chExt cx="196056" cy="1651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87797" y="1222375"/>
                <a:ext cx="196056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96056" h="165100">
                    <a:moveTo>
                      <a:pt x="25797" y="0"/>
                    </a:moveTo>
                    <a:cubicBezTo>
                      <a:pt x="0" y="51594"/>
                      <a:pt x="0" y="103187"/>
                      <a:pt x="25797" y="165100"/>
                    </a:cubicBezTo>
                    <a:moveTo>
                      <a:pt x="170259" y="0"/>
                    </a:moveTo>
                    <a:cubicBezTo>
                      <a:pt x="196056" y="51594"/>
                      <a:pt x="196056" y="103187"/>
                      <a:pt x="170259" y="165100"/>
                    </a:cubicBezTo>
                    <a:moveTo>
                      <a:pt x="67072" y="51594"/>
                    </a:moveTo>
                    <a:lnTo>
                      <a:pt x="77391" y="51594"/>
                    </a:lnTo>
                    <a:cubicBezTo>
                      <a:pt x="87709" y="51594"/>
                      <a:pt x="87709" y="61912"/>
                      <a:pt x="98193" y="87988"/>
                    </a:cubicBezTo>
                    <a:cubicBezTo>
                      <a:pt x="108347" y="113506"/>
                      <a:pt x="108347" y="123825"/>
                      <a:pt x="118666" y="123825"/>
                    </a:cubicBezTo>
                    <a:lnTo>
                      <a:pt x="128984" y="1238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4550" y="1273969"/>
                <a:ext cx="82550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72231">
                    <a:moveTo>
                      <a:pt x="0" y="72231"/>
                    </a:moveTo>
                    <a:cubicBezTo>
                      <a:pt x="15478" y="72231"/>
                      <a:pt x="30956" y="51594"/>
                      <a:pt x="41275" y="36116"/>
                    </a:cubicBezTo>
                    <a:cubicBezTo>
                      <a:pt x="51594" y="20637"/>
                      <a:pt x="67072" y="0"/>
                      <a:pt x="82550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85850" y="12096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决策变量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618" y="1513999"/>
              <a:ext cx="15979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CpModel 求解的四类未知量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1809750"/>
              <a:ext cx="2476500" cy="933450"/>
            </a:xfrm>
            <a:prstGeom prst="roundRect">
              <a:avLst>
                <a:gd name="adj" fmla="val 8163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2495" y="1917382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x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0115" y="203930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v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76362" y="1955006"/>
              <a:ext cx="9028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use_vehicle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1068" y="225694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车辆 v 是否启用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2020" y="2493645"/>
              <a:ext cx="4549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2A5F5"/>
                  </a:solidFill>
                  <a:latin typeface="Consolas"/>
                  <a:ea typeface="Microsoft YaHei"/>
                  <a:cs typeface="Consolas"/>
                </a:rPr>
                <a:t>BoolVar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2838450"/>
              <a:ext cx="2476500" cy="933450"/>
            </a:xfrm>
            <a:prstGeom prst="roundRect">
              <a:avLst>
                <a:gd name="adj" fmla="val 8163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2495" y="2946082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0115" y="3068002"/>
              <a:ext cx="269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c,v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09712" y="2983706"/>
              <a:ext cx="5090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assign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21068" y="3285649"/>
              <a:ext cx="13639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消耗 c 是否由车 v 配送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2020" y="3522345"/>
              <a:ext cx="13190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2A5F5"/>
                  </a:solidFill>
                  <a:latin typeface="Consolas"/>
                  <a:ea typeface="Microsoft YaHei"/>
                  <a:cs typeface="Consolas"/>
                </a:rPr>
                <a:t>BoolVar · 仅候选 v∈V_c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3867150"/>
              <a:ext cx="2476500" cy="933450"/>
            </a:xfrm>
            <a:prstGeom prst="roundRect">
              <a:avLst>
                <a:gd name="adj" fmla="val 8163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2495" y="3974782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0115" y="409670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v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76362" y="4012406"/>
              <a:ext cx="5562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arrival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1068" y="431434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车 v 的到达时间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2020" y="4551045"/>
              <a:ext cx="12470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2A5F5"/>
                  </a:solidFill>
                  <a:latin typeface="Consolas"/>
                  <a:ea typeface="Microsoft YaHei"/>
                  <a:cs typeface="Consolas"/>
                </a:rPr>
                <a:t>IntVar · 非休息时间域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" y="4895850"/>
              <a:ext cx="2476500" cy="933450"/>
            </a:xfrm>
            <a:prstGeom prst="roundRect">
              <a:avLst>
                <a:gd name="adj" fmla="val 8163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2495" y="5003482"/>
              <a:ext cx="1112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l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0115" y="5125402"/>
              <a:ext cx="2324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v,i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09712" y="5041106"/>
              <a:ext cx="11233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loaded_pallets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1068" y="5343049"/>
              <a:ext cx="12014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车 v 装物料 i 的板数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2020" y="5579745"/>
              <a:ext cx="9949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2A5F5"/>
                  </a:solidFill>
                  <a:latin typeface="Consolas"/>
                  <a:ea typeface="Microsoft YaHei"/>
                  <a:cs typeface="Consolas"/>
                </a:rPr>
                <a:t>IntVar · 0 .. K_v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657600" y="990600"/>
            <a:ext cx="7962900" cy="723900"/>
            <a:chOff x="3657600" y="990600"/>
            <a:chExt cx="7962900" cy="723900"/>
          </a:xfrm>
        </p:grpSpPr>
        <p:sp>
          <p:nvSpPr>
            <p:cNvPr id="39" name="Rectangle 39"/>
            <p:cNvSpPr/>
            <p:nvPr/>
          </p:nvSpPr>
          <p:spPr>
            <a:xfrm>
              <a:off x="3657600" y="990600"/>
              <a:ext cx="7962900" cy="723900"/>
            </a:xfrm>
            <a:prstGeom prst="roundRect">
              <a:avLst>
                <a:gd name="adj" fmla="val 13158"/>
              </a:avLst>
            </a:prstGeom>
            <a:solidFill>
              <a:srgbClr val="2E7D32">
                <a:alpha val="8000"/>
              </a:srgbClr>
            </a:solidFill>
            <a:ln w="14288">
              <a:solidFill>
                <a:srgbClr val="2E7D32">
                  <a:alpha val="40000"/>
                </a:srgbClr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3888581" y="1221581"/>
              <a:ext cx="242888" cy="242888"/>
              <a:chOff x="3888581" y="1221581"/>
              <a:chExt cx="242888" cy="242888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3996531" y="1329531"/>
                <a:ext cx="26988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7">
                    <a:moveTo>
                      <a:pt x="0" y="13494"/>
                    </a:moveTo>
                    <a:cubicBezTo>
                      <a:pt x="0" y="20946"/>
                      <a:pt x="6041" y="26987"/>
                      <a:pt x="13494" y="26987"/>
                    </a:cubicBezTo>
                    <a:cubicBezTo>
                      <a:pt x="20946" y="26987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3942556" y="1275556"/>
                <a:ext cx="134937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34937" h="134938">
                    <a:moveTo>
                      <a:pt x="0" y="67469"/>
                    </a:moveTo>
                    <a:cubicBezTo>
                      <a:pt x="0" y="104731"/>
                      <a:pt x="30207" y="134938"/>
                      <a:pt x="67469" y="134938"/>
                    </a:cubicBezTo>
                    <a:cubicBezTo>
                      <a:pt x="104731" y="134938"/>
                      <a:pt x="134937" y="104731"/>
                      <a:pt x="134937" y="67469"/>
                    </a:cubicBezTo>
                    <a:cubicBezTo>
                      <a:pt x="134937" y="30207"/>
                      <a:pt x="104731" y="0"/>
                      <a:pt x="67469" y="0"/>
                    </a:cubicBezTo>
                    <a:cubicBezTo>
                      <a:pt x="30207" y="0"/>
                      <a:pt x="0" y="30207"/>
                      <a:pt x="0" y="67469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3888581" y="122158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5"/>
                      <a:pt x="54372" y="242888"/>
                      <a:pt x="121444" y="242888"/>
                    </a:cubicBezTo>
                    <a:cubicBezTo>
                      <a:pt x="188515" y="242888"/>
                      <a:pt x="242888" y="188515"/>
                      <a:pt x="242888" y="121444"/>
                    </a:cubicBezTo>
                    <a:cubicBezTo>
                      <a:pt x="242888" y="54372"/>
                      <a:pt x="188515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4269105" y="1168718"/>
              <a:ext cx="27089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目标函数 · 最小化启用车辆总数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73868" y="1456849"/>
              <a:ext cx="28136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model.minimize — 用车越少，单日配送成本越低</a:t>
              </a:r>
            </a:p>
          </p:txBody>
        </p:sp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7653" y="1162050"/>
              <a:ext cx="754944" cy="381000"/>
            </a:xfrm>
            <a:prstGeom prst="rect">
              <a:avLst/>
            </a:prstGeom>
          </p:spPr>
        </p:pic>
      </p:grpSp>
      <p:grpSp>
        <p:nvGrpSpPr>
          <p:cNvPr id="55" name="Group 55"/>
          <p:cNvGrpSpPr/>
          <p:nvPr/>
        </p:nvGrpSpPr>
        <p:grpSpPr>
          <a:xfrm>
            <a:off x="3657600" y="1828800"/>
            <a:ext cx="3886200" cy="1352550"/>
            <a:chOff x="3657600" y="1828800"/>
            <a:chExt cx="3886200" cy="1352550"/>
          </a:xfrm>
        </p:grpSpPr>
        <p:sp>
          <p:nvSpPr>
            <p:cNvPr id="48" name="Rectangle 48"/>
            <p:cNvSpPr/>
            <p:nvPr/>
          </p:nvSpPr>
          <p:spPr>
            <a:xfrm>
              <a:off x="3657600" y="1828800"/>
              <a:ext cx="3886200" cy="1352550"/>
            </a:xfrm>
            <a:prstGeom prst="roundRect">
              <a:avLst>
                <a:gd name="adj" fmla="val 7042"/>
              </a:avLst>
            </a:prstGeom>
            <a:solidFill>
              <a:srgbClr val="FFFFFF"/>
            </a:solidFill>
            <a:ln w="14288">
              <a:solidFill>
                <a:srgbClr val="CFD8DC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3790950" y="1962150"/>
              <a:ext cx="266700" cy="266700"/>
            </a:xfrm>
            <a:prstGeom prst="ellipse">
              <a:avLst/>
            </a:prstGeom>
            <a:solidFill>
              <a:srgbClr val="E6510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886385" y="2021681"/>
              <a:ext cx="758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137660" y="19469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63238"/>
                  </a:solidFill>
                  <a:latin typeface="Arial"/>
                  <a:ea typeface="Microsoft YaHei"/>
                  <a:cs typeface="Arial"/>
                </a:rPr>
                <a:t>分配唯一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142422" y="2168366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65100"/>
                  </a:solidFill>
                  <a:latin typeface="Consolas"/>
                  <a:ea typeface="Microsoft YaHei"/>
                  <a:cs typeface="Consolas"/>
                </a:rPr>
                <a:t>add_exactly_one</a:t>
              </a:r>
            </a:p>
          </p:txBody>
        </p:sp>
        <p:pic>
          <p:nvPicPr>
            <p:cNvPr id="53" name="Image 5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35830" y="2381250"/>
              <a:ext cx="1691640" cy="419100"/>
            </a:xfrm>
            <a:prstGeom prst="rect">
              <a:avLst/>
            </a:prstGeom>
          </p:spPr>
        </p:pic>
        <p:sp>
          <p:nvSpPr>
            <p:cNvPr id="54" name="TextBox 54"/>
            <p:cNvSpPr txBox="1"/>
            <p:nvPr/>
          </p:nvSpPr>
          <p:spPr>
            <a:xfrm>
              <a:off x="3836194" y="2965847"/>
              <a:ext cx="202406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每条小时消耗恰好由一辆候选车配送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734300" y="1828800"/>
            <a:ext cx="3886200" cy="1352550"/>
            <a:chOff x="7734300" y="1828800"/>
            <a:chExt cx="3886200" cy="1352550"/>
          </a:xfrm>
        </p:grpSpPr>
        <p:sp>
          <p:nvSpPr>
            <p:cNvPr id="56" name="Rectangle 56"/>
            <p:cNvSpPr/>
            <p:nvPr/>
          </p:nvSpPr>
          <p:spPr>
            <a:xfrm>
              <a:off x="7734300" y="1828800"/>
              <a:ext cx="3886200" cy="1352550"/>
            </a:xfrm>
            <a:prstGeom prst="roundRect">
              <a:avLst>
                <a:gd name="adj" fmla="val 7042"/>
              </a:avLst>
            </a:prstGeom>
            <a:solidFill>
              <a:srgbClr val="FFFFFF"/>
            </a:solidFill>
            <a:ln w="14288">
              <a:solidFill>
                <a:srgbClr val="CFD8DC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7867650" y="1962150"/>
              <a:ext cx="266700" cy="266700"/>
            </a:xfrm>
            <a:prstGeom prst="ellipse">
              <a:avLst/>
            </a:prstGeom>
            <a:solidFill>
              <a:srgbClr val="E6510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943395" y="2021681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14360" y="19469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63238"/>
                  </a:solidFill>
                  <a:latin typeface="Arial"/>
                  <a:ea typeface="Microsoft YaHei"/>
                  <a:cs typeface="Arial"/>
                </a:rPr>
                <a:t>到达时间窗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19122" y="2168366"/>
              <a:ext cx="8735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65100"/>
                  </a:solidFill>
                  <a:latin typeface="Consolas"/>
                  <a:ea typeface="Microsoft YaHei"/>
                  <a:cs typeface="Consolas"/>
                </a:rPr>
                <a:t>only_enforce_if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11268075" y="1971675"/>
              <a:ext cx="171450" cy="171450"/>
              <a:chOff x="11268075" y="1971675"/>
              <a:chExt cx="171450" cy="17145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11268075" y="19716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E65100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1353800" y="2057400"/>
                <a:ext cx="2857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9050">
                    <a:moveTo>
                      <a:pt x="0" y="0"/>
                    </a:moveTo>
                    <a:lnTo>
                      <a:pt x="28575" y="19050"/>
                    </a:lnTo>
                  </a:path>
                </a:pathLst>
              </a:custGeom>
              <a:noFill/>
              <a:ln w="19050">
                <a:solidFill>
                  <a:srgbClr val="E65100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1353800" y="200977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E65100"/>
                </a:solidFill>
              </a:ln>
            </p:spPr>
          </p:sp>
        </p:grpSp>
        <p:pic>
          <p:nvPicPr>
            <p:cNvPr id="65" name="Image 6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9600" y="2461616"/>
              <a:ext cx="3086100" cy="334568"/>
            </a:xfrm>
            <a:prstGeom prst="rect">
              <a:avLst/>
            </a:prstGeom>
          </p:spPr>
        </p:pic>
        <p:sp>
          <p:nvSpPr>
            <p:cNvPr id="66" name="TextBox 66"/>
            <p:cNvSpPr txBox="1"/>
            <p:nvPr/>
          </p:nvSpPr>
          <p:spPr>
            <a:xfrm>
              <a:off x="7912894" y="2965847"/>
              <a:ext cx="239910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被分配则到达落在窗内，且仅限非休息时段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3657600" y="3295650"/>
            <a:ext cx="3886200" cy="1352550"/>
            <a:chOff x="3657600" y="3295650"/>
            <a:chExt cx="3886200" cy="1352550"/>
          </a:xfrm>
        </p:grpSpPr>
        <p:sp>
          <p:nvSpPr>
            <p:cNvPr id="68" name="Rectangle 68"/>
            <p:cNvSpPr/>
            <p:nvPr/>
          </p:nvSpPr>
          <p:spPr>
            <a:xfrm>
              <a:off x="3657600" y="3295650"/>
              <a:ext cx="3886200" cy="1352550"/>
            </a:xfrm>
            <a:prstGeom prst="roundRect">
              <a:avLst>
                <a:gd name="adj" fmla="val 7042"/>
              </a:avLst>
            </a:prstGeom>
            <a:solidFill>
              <a:srgbClr val="FFFFFF"/>
            </a:solidFill>
            <a:ln w="14288">
              <a:solidFill>
                <a:srgbClr val="CFD8DC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3790950" y="3429000"/>
              <a:ext cx="266700" cy="266700"/>
            </a:xfrm>
            <a:prstGeom prst="ellipse">
              <a:avLst/>
            </a:prstGeom>
            <a:solidFill>
              <a:srgbClr val="E65100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3866695" y="3488531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137660" y="34137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63238"/>
                  </a:solidFill>
                  <a:latin typeface="Arial"/>
                  <a:ea typeface="Microsoft YaHei"/>
                  <a:cs typeface="Arial"/>
                </a:rPr>
                <a:t>装载板数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142422" y="3635216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65100"/>
                  </a:solidFill>
                  <a:latin typeface="Consolas"/>
                  <a:ea typeface="Microsoft YaHei"/>
                  <a:cs typeface="Consolas"/>
                </a:rPr>
                <a:t>ceil 线性化</a:t>
              </a:r>
            </a:p>
          </p:txBody>
        </p:sp>
        <p:grpSp>
          <p:nvGrpSpPr>
            <p:cNvPr id="78" name="Group 78"/>
            <p:cNvGrpSpPr/>
            <p:nvPr/>
          </p:nvGrpSpPr>
          <p:grpSpPr>
            <a:xfrm>
              <a:off x="7200900" y="3438525"/>
              <a:ext cx="152400" cy="171450"/>
              <a:chOff x="7200900" y="3438525"/>
              <a:chExt cx="152400" cy="17145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200900" y="3438525"/>
                <a:ext cx="1524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71450">
                    <a:moveTo>
                      <a:pt x="76200" y="0"/>
                    </a:moveTo>
                    <a:lnTo>
                      <a:pt x="152400" y="42862"/>
                    </a:lnTo>
                    <a:lnTo>
                      <a:pt x="152400" y="128588"/>
                    </a:lnTo>
                    <a:lnTo>
                      <a:pt x="76200" y="171450"/>
                    </a:lnTo>
                    <a:lnTo>
                      <a:pt x="0" y="128588"/>
                    </a:lnTo>
                    <a:lnTo>
                      <a:pt x="0" y="42862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E65100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277100" y="3481388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0" y="42862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E65100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277100" y="352425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E65100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200900" y="3481388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76200" y="428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E65100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239000" y="3459956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7620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E65100"/>
                </a:solidFill>
              </a:ln>
            </p:spPr>
          </p:sp>
        </p:grpSp>
        <p:pic>
          <p:nvPicPr>
            <p:cNvPr id="79" name="Image 7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13121" y="3848100"/>
              <a:ext cx="1537058" cy="438150"/>
            </a:xfrm>
            <a:prstGeom prst="rect">
              <a:avLst/>
            </a:prstGeom>
          </p:spPr>
        </p:pic>
        <p:sp>
          <p:nvSpPr>
            <p:cNvPr id="80" name="TextBox 80"/>
            <p:cNvSpPr txBox="1"/>
            <p:nvPr/>
          </p:nvSpPr>
          <p:spPr>
            <a:xfrm>
              <a:off x="3836194" y="4432697"/>
              <a:ext cx="266789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物料件数汇总 / 包规向上取整，两条不等式逼近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7734300" y="3295650"/>
            <a:ext cx="3886200" cy="1352550"/>
            <a:chOff x="7734300" y="3295650"/>
            <a:chExt cx="3886200" cy="1352550"/>
          </a:xfrm>
        </p:grpSpPr>
        <p:sp>
          <p:nvSpPr>
            <p:cNvPr id="82" name="Rectangle 82"/>
            <p:cNvSpPr/>
            <p:nvPr/>
          </p:nvSpPr>
          <p:spPr>
            <a:xfrm>
              <a:off x="7734300" y="3295650"/>
              <a:ext cx="3886200" cy="1352550"/>
            </a:xfrm>
            <a:prstGeom prst="roundRect">
              <a:avLst>
                <a:gd name="adj" fmla="val 7042"/>
              </a:avLst>
            </a:prstGeom>
            <a:solidFill>
              <a:srgbClr val="FFFFFF"/>
            </a:solidFill>
            <a:ln w="14288">
              <a:solidFill>
                <a:srgbClr val="CFD8DC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7867650" y="3429000"/>
              <a:ext cx="266700" cy="266700"/>
            </a:xfrm>
            <a:prstGeom prst="ellipse">
              <a:avLst/>
            </a:prstGeom>
            <a:solidFill>
              <a:srgbClr val="E65100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943395" y="3488531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214360" y="34137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63238"/>
                  </a:solidFill>
                  <a:latin typeface="Arial"/>
                  <a:ea typeface="Microsoft YaHei"/>
                  <a:cs typeface="Arial"/>
                </a:rPr>
                <a:t>车辆容量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219122" y="3635216"/>
              <a:ext cx="73054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65100"/>
                  </a:solidFill>
                  <a:latin typeface="Consolas"/>
                  <a:ea typeface="Microsoft YaHei"/>
                  <a:cs typeface="Consolas"/>
                </a:rPr>
                <a:t>capacity 上限</a:t>
              </a:r>
            </a:p>
          </p:txBody>
        </p:sp>
        <p:grpSp>
          <p:nvGrpSpPr>
            <p:cNvPr id="91" name="Group 91"/>
            <p:cNvGrpSpPr/>
            <p:nvPr/>
          </p:nvGrpSpPr>
          <p:grpSpPr>
            <a:xfrm>
              <a:off x="11258550" y="3457575"/>
              <a:ext cx="180975" cy="133350"/>
              <a:chOff x="11258550" y="3457575"/>
              <a:chExt cx="180975" cy="13335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11287125" y="35528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E65100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11382375" y="35528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E65100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11258550" y="3457575"/>
                <a:ext cx="1809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14300">
                    <a:moveTo>
                      <a:pt x="28575" y="114300"/>
                    </a:moveTo>
                    <a:lnTo>
                      <a:pt x="9525" y="114300"/>
                    </a:lnTo>
                    <a:lnTo>
                      <a:pt x="9525" y="76200"/>
                    </a:lnTo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114300"/>
                    </a:lnTo>
                    <a:moveTo>
                      <a:pt x="66675" y="114300"/>
                    </a:moveTo>
                    <a:lnTo>
                      <a:pt x="123825" y="114300"/>
                    </a:lnTo>
                    <a:moveTo>
                      <a:pt x="161925" y="114300"/>
                    </a:moveTo>
                    <a:lnTo>
                      <a:pt x="180975" y="114300"/>
                    </a:lnTo>
                    <a:lnTo>
                      <a:pt x="180975" y="57150"/>
                    </a:lnTo>
                    <a:lnTo>
                      <a:pt x="104775" y="57150"/>
                    </a:lnTo>
                    <a:moveTo>
                      <a:pt x="104775" y="9525"/>
                    </a:moveTo>
                    <a:lnTo>
                      <a:pt x="152400" y="9525"/>
                    </a:lnTo>
                    <a:lnTo>
                      <a:pt x="180975" y="57150"/>
                    </a:lnTo>
                  </a:path>
                </a:pathLst>
              </a:custGeom>
              <a:noFill/>
              <a:ln w="19050">
                <a:solidFill>
                  <a:srgbClr val="E65100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11268075" y="349567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E65100"/>
                </a:solidFill>
              </a:ln>
            </p:spPr>
          </p:sp>
        </p:grpSp>
        <p:pic>
          <p:nvPicPr>
            <p:cNvPr id="92" name="Image 9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27589" y="3848100"/>
              <a:ext cx="1852023" cy="419100"/>
            </a:xfrm>
            <a:prstGeom prst="rect">
              <a:avLst/>
            </a:prstGeom>
          </p:spPr>
        </p:pic>
        <p:sp>
          <p:nvSpPr>
            <p:cNvPr id="93" name="TextBox 93"/>
            <p:cNvSpPr txBox="1"/>
            <p:nvPr/>
          </p:nvSpPr>
          <p:spPr>
            <a:xfrm>
              <a:off x="7912894" y="4432697"/>
              <a:ext cx="201781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每车各物料板数之和不超过车规 K_v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3657600" y="4762500"/>
            <a:ext cx="3886200" cy="1295400"/>
            <a:chOff x="3657600" y="4762500"/>
            <a:chExt cx="3886200" cy="1295400"/>
          </a:xfrm>
        </p:grpSpPr>
        <p:sp>
          <p:nvSpPr>
            <p:cNvPr id="95" name="Rectangle 95"/>
            <p:cNvSpPr/>
            <p:nvPr/>
          </p:nvSpPr>
          <p:spPr>
            <a:xfrm>
              <a:off x="3657600" y="4762500"/>
              <a:ext cx="3886200" cy="1295400"/>
            </a:xfrm>
            <a:prstGeom prst="roundRect">
              <a:avLst>
                <a:gd name="adj" fmla="val 7353"/>
              </a:avLst>
            </a:prstGeom>
            <a:solidFill>
              <a:srgbClr val="FFFFFF"/>
            </a:solidFill>
            <a:ln w="14288">
              <a:solidFill>
                <a:srgbClr val="CFD8DC"/>
              </a:solidFill>
            </a:ln>
          </p:spPr>
        </p:sp>
        <p:sp>
          <p:nvSpPr>
            <p:cNvPr id="96" name="Ellipse 96"/>
            <p:cNvSpPr/>
            <p:nvPr/>
          </p:nvSpPr>
          <p:spPr>
            <a:xfrm>
              <a:off x="3790950" y="4895850"/>
              <a:ext cx="266700" cy="266700"/>
            </a:xfrm>
            <a:prstGeom prst="ellipse">
              <a:avLst/>
            </a:prstGeom>
            <a:solidFill>
              <a:srgbClr val="E65100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3866695" y="4955381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137660" y="4880610"/>
              <a:ext cx="12990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63238"/>
                  </a:solidFill>
                  <a:latin typeface="Arial"/>
                  <a:ea typeface="Microsoft YaHei"/>
                  <a:cs typeface="Arial"/>
                </a:rPr>
                <a:t>供应商-物料守恒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142422" y="5102066"/>
              <a:ext cx="7195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65100"/>
                  </a:solidFill>
                  <a:latin typeface="Consolas"/>
                  <a:ea typeface="Microsoft YaHei"/>
                  <a:cs typeface="Consolas"/>
                </a:rPr>
                <a:t>demand ≥ ceil</a:t>
              </a:r>
            </a:p>
          </p:txBody>
        </p:sp>
        <p:pic>
          <p:nvPicPr>
            <p:cNvPr id="100" name="Image 1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59325" y="5295900"/>
              <a:ext cx="1168400" cy="457200"/>
            </a:xfrm>
            <a:prstGeom prst="rect">
              <a:avLst/>
            </a:prstGeom>
          </p:spPr>
        </p:pic>
        <p:sp>
          <p:nvSpPr>
            <p:cNvPr id="101" name="TextBox 101"/>
            <p:cNvSpPr txBox="1"/>
            <p:nvPr/>
          </p:nvSpPr>
          <p:spPr>
            <a:xfrm>
              <a:off x="3836194" y="5842397"/>
              <a:ext cx="216783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每供应商某物料总板数 ≥ 需求所需板数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7734300" y="4762500"/>
            <a:ext cx="3886200" cy="1295400"/>
            <a:chOff x="7734300" y="4762500"/>
            <a:chExt cx="3886200" cy="1295400"/>
          </a:xfrm>
        </p:grpSpPr>
        <p:sp>
          <p:nvSpPr>
            <p:cNvPr id="103" name="Rectangle 103"/>
            <p:cNvSpPr/>
            <p:nvPr/>
          </p:nvSpPr>
          <p:spPr>
            <a:xfrm>
              <a:off x="7734300" y="4762500"/>
              <a:ext cx="3886200" cy="1295400"/>
            </a:xfrm>
            <a:prstGeom prst="roundRect">
              <a:avLst>
                <a:gd name="adj" fmla="val 7353"/>
              </a:avLst>
            </a:prstGeom>
            <a:solidFill>
              <a:srgbClr val="1565C0">
                <a:alpha val="5000"/>
              </a:srgbClr>
            </a:solidFill>
            <a:ln w="14288">
              <a:solidFill>
                <a:srgbClr val="42A5F5"/>
              </a:solidFill>
            </a:ln>
          </p:spPr>
        </p:sp>
        <p:sp>
          <p:nvSpPr>
            <p:cNvPr id="104" name="Ellipse 104"/>
            <p:cNvSpPr/>
            <p:nvPr/>
          </p:nvSpPr>
          <p:spPr>
            <a:xfrm>
              <a:off x="7867650" y="4895850"/>
              <a:ext cx="266700" cy="2667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7943395" y="4955381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214360" y="4880610"/>
              <a:ext cx="17358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启用联动 + 对称性打破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219122" y="5102066"/>
              <a:ext cx="140712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976D2"/>
                  </a:solidFill>
                  <a:latin typeface="Consolas"/>
                  <a:ea typeface="Microsoft YaHei"/>
                  <a:cs typeface="Consolas"/>
                </a:rPr>
                <a:t>add_implication · 求解加速</a:t>
              </a:r>
            </a:p>
          </p:txBody>
        </p:sp>
        <p:grpSp>
          <p:nvGrpSpPr>
            <p:cNvPr id="112" name="Group 112"/>
            <p:cNvGrpSpPr/>
            <p:nvPr/>
          </p:nvGrpSpPr>
          <p:grpSpPr>
            <a:xfrm>
              <a:off x="11268075" y="4914900"/>
              <a:ext cx="171450" cy="152400"/>
              <a:chOff x="11268075" y="4914900"/>
              <a:chExt cx="171450" cy="152400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11268075" y="4991100"/>
                <a:ext cx="1714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47625">
                    <a:moveTo>
                      <a:pt x="171450" y="47625"/>
                    </a:moveTo>
                    <a:lnTo>
                      <a:pt x="95250" y="47625"/>
                    </a:lnTo>
                    <a:lnTo>
                      <a:pt x="61912" y="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11330035" y="4943475"/>
                <a:ext cx="10949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09490" h="47625">
                    <a:moveTo>
                      <a:pt x="109490" y="0"/>
                    </a:moveTo>
                    <a:lnTo>
                      <a:pt x="33290" y="0"/>
                    </a:ln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11410950" y="4914900"/>
                <a:ext cx="285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7150">
                    <a:moveTo>
                      <a:pt x="0" y="57150"/>
                    </a:moveTo>
                    <a:lnTo>
                      <a:pt x="28575" y="285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11410950" y="5010150"/>
                <a:ext cx="285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7150">
                    <a:moveTo>
                      <a:pt x="0" y="57150"/>
                    </a:moveTo>
                    <a:lnTo>
                      <a:pt x="28575" y="285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13" name="Ellipse 113"/>
            <p:cNvSpPr/>
            <p:nvPr/>
          </p:nvSpPr>
          <p:spPr>
            <a:xfrm>
              <a:off x="8315325" y="54387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8446294" y="5404247"/>
              <a:ext cx="218658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263238"/>
                  </a:solidFill>
                  <a:latin typeface="Arial"/>
                  <a:ea typeface="Microsoft YaHei"/>
                  <a:cs typeface="Arial"/>
                </a:rPr>
                <a:t>分配 ⇒ 启用；启用 ⇒ 至少承接一条消耗</a:t>
              </a:r>
            </a:p>
          </p:txBody>
        </p:sp>
        <p:sp>
          <p:nvSpPr>
            <p:cNvPr id="115" name="Ellipse 115"/>
            <p:cNvSpPr/>
            <p:nvPr/>
          </p:nvSpPr>
          <p:spPr>
            <a:xfrm>
              <a:off x="8315325" y="568642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8446294" y="5651897"/>
              <a:ext cx="216783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263238"/>
                  </a:solidFill>
                  <a:latin typeface="Arial"/>
                  <a:ea typeface="Microsoft YaHei"/>
                  <a:cs typeface="Arial"/>
                </a:rPr>
                <a:t>同供应商按序号激活，前车到达 ≤ 后车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560070" y="6570345"/>
            <a:ext cx="11071860" cy="182880"/>
            <a:chOff x="560070" y="6570345"/>
            <a:chExt cx="11071860" cy="182880"/>
          </a:xfrm>
        </p:grpSpPr>
        <p:sp>
          <p:nvSpPr>
            <p:cNvPr id="118" name="TextBox 118"/>
            <p:cNvSpPr txBox="1"/>
            <p:nvPr/>
          </p:nvSpPr>
          <p:spPr>
            <a:xfrm>
              <a:off x="560070" y="6570345"/>
              <a:ext cx="29332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manufacture-jis · JISCPModel（OR-Tools CP-SAT）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1411045" y="6570345"/>
              <a:ext cx="2208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07D8B"/>
                  </a:solidFill>
                  <a:latin typeface="Arial"/>
                  <a:ea typeface="Microsoft YaHei"/>
                  <a:cs typeface="Arial"/>
                </a:rPr>
                <a:t>P02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7" grpId="0"/>
      <p:bldP spid="55" grpId="0"/>
      <p:bldP spid="67" grpId="0"/>
      <p:bldP spid="81" grpId="0"/>
      <p:bldP spid="94" grpId="0"/>
      <p:bldP spid="102" grpId="0"/>
      <p:bldP spid="11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